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828800"/>
            <a:ext cx="5943600" cy="5943600"/>
          </a:xfrm>
          <a:prstGeom prst="oval">
            <a:avLst/>
          </a:prstGeom>
          <a:solidFill>
            <a:srgbClr val="0A1940">
              <a:alpha val="45000"/>
            </a:srgbClr>
          </a:solidFill>
          <a:ln w="12700">
            <a:solidFill>
              <a:srgbClr val="0A194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3474720"/>
            <a:ext cx="5029200" cy="5029200"/>
          </a:xfrm>
          <a:prstGeom prst="oval">
            <a:avLst/>
          </a:prstGeom>
          <a:solidFill>
            <a:srgbClr val="0B7A79">
              <a:alpha val="25000"/>
            </a:srgbClr>
          </a:solidFill>
          <a:ln w="12700">
            <a:solidFill>
              <a:srgbClr val="0B7A7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1E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MDR ADVOCACIA  ·  PLATAFORMA INTERNA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05156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Duna</a:t>
            </a:r>
            <a:pPr indent="0" marL="0">
              <a:buNone/>
            </a:pPr>
            <a:r>
              <a:rPr lang="en-US" sz="11000" b="1" i="1" dirty="0">
                <a:solidFill>
                  <a:srgbClr val="1E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1E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DUNATECH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DCE6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Orquestração jurídica inteligente sobre o Legal One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22960" y="3703320"/>
            <a:ext cx="914400" cy="36576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151376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a fluxos jurídicos</a:t>
            </a:r>
            <a:endParaRPr lang="en-US" sz="15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654296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4617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 + automações agendadas</a:t>
            </a:r>
            <a:endParaRPr lang="en-US" sz="15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15721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processual maduro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2296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1E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· 2026   ·   v1.6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8229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da plataforma · audiência interna e externa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55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DE PARTIDA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trabalho jurídico não cabe mais no manual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548640" cy="54864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5303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dia útil, um escritório de porte recebe centenas de publicações, movimentações e intimações. Triagem, classificação, cadastro e acompanhamento consomem horas dos times jurídico e administrativo — e, pior, o que escapa vira risco.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A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DunaFlow nasceu para absorver esse peso operacional, devolver tempo aos advogados e transformar dados brutos do Legal One em decisões acionáveis.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0" y="1737360"/>
            <a:ext cx="5486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126480" y="1737360"/>
            <a:ext cx="73152" cy="914400"/>
          </a:xfrm>
          <a:prstGeom prst="rect">
            <a:avLst/>
          </a:prstGeom>
          <a:solidFill>
            <a:srgbClr val="D65A4B"/>
          </a:solidFill>
          <a:ln w="12700">
            <a:solidFill>
              <a:srgbClr val="D65A4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87452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12280" y="1828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Publicações sem pasta ficam órfãs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12280" y="2148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perder prazo em processos que o escritório já conhece.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0" y="2743200"/>
            <a:ext cx="5486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26480" y="2743200"/>
            <a:ext cx="73152" cy="914400"/>
          </a:xfrm>
          <a:prstGeom prst="rect">
            <a:avLst/>
          </a:prstGeom>
          <a:solidFill>
            <a:srgbClr val="D65A4B"/>
          </a:solidFill>
          <a:ln w="12700">
            <a:solidFill>
              <a:srgbClr val="D65A4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88036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12280" y="2834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manual não escala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812280" y="3154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nova demanda briga por atenção humana escassa.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26480" y="3749040"/>
            <a:ext cx="5486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3749040"/>
            <a:ext cx="73152" cy="914400"/>
          </a:xfrm>
          <a:prstGeom prst="rect">
            <a:avLst/>
          </a:prstGeom>
          <a:solidFill>
            <a:srgbClr val="D65A4B"/>
          </a:solidFill>
          <a:ln w="12700">
            <a:solidFill>
              <a:srgbClr val="D65A4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88620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12280" y="38404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Cadastros se desencontram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812280" y="4160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com partes, classes e assuntos incompletos ou inconsistentes.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126480" y="4754880"/>
            <a:ext cx="5486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126480" y="4754880"/>
            <a:ext cx="73152" cy="914400"/>
          </a:xfrm>
          <a:prstGeom prst="rect">
            <a:avLst/>
          </a:prstGeom>
          <a:solidFill>
            <a:srgbClr val="D65A4B"/>
          </a:solidFill>
          <a:ln w="12700">
            <a:solidFill>
              <a:srgbClr val="D65A4B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89204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12280" y="48463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Automatizações soltas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812280" y="51663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avulsos, sem orquestração, sem histórico, sem dono.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DunaFlow · MDR Advocacia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0149840" y="6583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55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DunaFlow em uma frase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548640" cy="54864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110642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73152" cy="2103120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7452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Plataforma interna que orquestra o ciclo de vida de tarefas, publicações e processos em torno do Legal One — combinando integrações diretas (REST/SOAP), automações robóticas (RPA) e Inteligência Artificial sob controle humano.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43484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4434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Inteligência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22960" y="5212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4.5 classifica, extrai e sugere — sempre com revisão humana opcional.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97680" y="416052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43484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12080" y="4434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Orquestração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4572000" y="5212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Lotes, agendamentos e filas: o trabalho chega pronto para o advogado.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46720" y="416052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443484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61120" y="4434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Governança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321040" y="5212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ação auditável, cada custo rastreável, cada decisão reversível.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DunaFlow · MDR Advocacia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0149840" y="6583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55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PANORAMA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Doze módulos organizados em quatro famílias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548640" cy="54864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2743200" cy="4709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2743200" cy="777240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01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INGESTÃO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entra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578608"/>
            <a:ext cx="2468880" cy="1234440"/>
          </a:xfrm>
          <a:prstGeom prst="rect">
            <a:avLst/>
          </a:prstGeom>
          <a:solidFill>
            <a:srgbClr val="F4F6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578608"/>
            <a:ext cx="73152" cy="1234440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74320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Publicações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" y="3218688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Diário oficial (DJEN)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3858768"/>
            <a:ext cx="2468880" cy="1234440"/>
          </a:xfrm>
          <a:prstGeom prst="rect">
            <a:avLst/>
          </a:prstGeom>
          <a:solidFill>
            <a:srgbClr val="F4F6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858768"/>
            <a:ext cx="73152" cy="1234440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02336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OneRequest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9808" y="4498848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DMIs do Banco do Brasil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5138928"/>
            <a:ext cx="2468880" cy="1234440"/>
          </a:xfrm>
          <a:prstGeom prst="rect">
            <a:avLst/>
          </a:prstGeom>
          <a:solidFill>
            <a:srgbClr val="F4F6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5138928"/>
            <a:ext cx="73152" cy="1234440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53035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Prazos Processuais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" y="5779008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da petição inicial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00984" y="1691640"/>
            <a:ext cx="2743200" cy="4709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00984" y="1691640"/>
            <a:ext cx="2743200" cy="777240"/>
          </a:xfrm>
          <a:prstGeom prst="rect">
            <a:avLst/>
          </a:prstGeom>
          <a:solidFill>
            <a:srgbClr val="0A1940"/>
          </a:solidFill>
          <a:ln w="12700">
            <a:solidFill>
              <a:srgbClr val="0A19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9584" y="1801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OPERAÇÃO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529584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plataforma age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38144" y="2578608"/>
            <a:ext cx="2468880" cy="1234440"/>
          </a:xfrm>
          <a:prstGeom prst="rect">
            <a:avLst/>
          </a:prstGeom>
          <a:solidFill>
            <a:srgbClr val="F4F6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38144" y="2578608"/>
            <a:ext cx="73152" cy="1234440"/>
          </a:xfrm>
          <a:prstGeom prst="rect">
            <a:avLst/>
          </a:prstGeom>
          <a:solidFill>
            <a:srgbClr val="0A1940"/>
          </a:solidFill>
          <a:ln w="12700">
            <a:solidFill>
              <a:srgbClr val="0A19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93592" y="274320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Classificação IA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93592" y="3218688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4.5 + Batch API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38144" y="3858768"/>
            <a:ext cx="2468880" cy="1234440"/>
          </a:xfrm>
          <a:prstGeom prst="rect">
            <a:avLst/>
          </a:prstGeom>
          <a:solidFill>
            <a:srgbClr val="F4F6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38144" y="3858768"/>
            <a:ext cx="73152" cy="1234440"/>
          </a:xfrm>
          <a:prstGeom prst="rect">
            <a:avLst/>
          </a:prstGeom>
          <a:solidFill>
            <a:srgbClr val="0A1940"/>
          </a:solidFill>
          <a:ln w="12700">
            <a:solidFill>
              <a:srgbClr val="0A19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93592" y="402336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Tratamento no L1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593592" y="4498848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 cadastra pelo advogado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38144" y="5138928"/>
            <a:ext cx="2468880" cy="1234440"/>
          </a:xfrm>
          <a:prstGeom prst="rect">
            <a:avLst/>
          </a:prstGeom>
          <a:solidFill>
            <a:srgbClr val="F4F6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38144" y="5138928"/>
            <a:ext cx="73152" cy="1234440"/>
          </a:xfrm>
          <a:prstGeom prst="rect">
            <a:avLst/>
          </a:prstGeom>
          <a:solidFill>
            <a:srgbClr val="0A1940"/>
          </a:solidFill>
          <a:ln w="12700">
            <a:solidFill>
              <a:srgbClr val="0A19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93592" y="53035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Criação em Lote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593592" y="5779008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Milhares de tarefas por execução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44768" y="1691640"/>
            <a:ext cx="2743200" cy="4709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44768" y="1691640"/>
            <a:ext cx="2743200" cy="777240"/>
          </a:xfrm>
          <a:prstGeom prst="rect">
            <a:avLst/>
          </a:prstGeom>
          <a:solidFill>
            <a:srgbClr val="0B7A79"/>
          </a:solidFill>
          <a:ln w="12700">
            <a:solidFill>
              <a:srgbClr val="0B7A7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73368" y="1801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INTELIGÊNCIA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373368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plataforma decide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81928" y="2578608"/>
            <a:ext cx="2468880" cy="1234440"/>
          </a:xfrm>
          <a:prstGeom prst="rect">
            <a:avLst/>
          </a:prstGeom>
          <a:solidFill>
            <a:srgbClr val="F4F6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81928" y="2578608"/>
            <a:ext cx="73152" cy="1234440"/>
          </a:xfrm>
          <a:prstGeom prst="rect">
            <a:avLst/>
          </a:prstGeom>
          <a:solidFill>
            <a:srgbClr val="0B7A79"/>
          </a:solidFill>
          <a:ln w="12700">
            <a:solidFill>
              <a:srgbClr val="0B7A7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37376" y="274320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Monitoramento Processual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437376" y="3218688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DataJud + régua 7 níveis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81928" y="3858768"/>
            <a:ext cx="2468880" cy="1234440"/>
          </a:xfrm>
          <a:prstGeom prst="rect">
            <a:avLst/>
          </a:prstGeom>
          <a:solidFill>
            <a:srgbClr val="F4F6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81928" y="3858768"/>
            <a:ext cx="73152" cy="1234440"/>
          </a:xfrm>
          <a:prstGeom prst="rect">
            <a:avLst/>
          </a:prstGeom>
          <a:solidFill>
            <a:srgbClr val="0B7A79"/>
          </a:solidFill>
          <a:ln w="12700">
            <a:solidFill>
              <a:srgbClr val="0B7A7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37376" y="402336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Análise Recursal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437376" y="4498848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+ custas dos 27 TJs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81928" y="5138928"/>
            <a:ext cx="2468880" cy="1234440"/>
          </a:xfrm>
          <a:prstGeom prst="rect">
            <a:avLst/>
          </a:prstGeom>
          <a:solidFill>
            <a:srgbClr val="F4F6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81928" y="5138928"/>
            <a:ext cx="73152" cy="1234440"/>
          </a:xfrm>
          <a:prstGeom prst="rect">
            <a:avLst/>
          </a:prstGeom>
          <a:solidFill>
            <a:srgbClr val="0B7A79"/>
          </a:solidFill>
          <a:ln w="12700">
            <a:solidFill>
              <a:srgbClr val="0B7A7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37376" y="53035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Automações Agendadas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437376" y="5779008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 em alta disponib.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988552" y="1691640"/>
            <a:ext cx="2743200" cy="4709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988552" y="1691640"/>
            <a:ext cx="2743200" cy="777240"/>
          </a:xfrm>
          <a:prstGeom prst="rect">
            <a:avLst/>
          </a:prstGeom>
          <a:solidFill>
            <a:srgbClr val="1558CC"/>
          </a:solidFill>
          <a:ln w="12700">
            <a:solidFill>
              <a:srgbClr val="1558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17152" y="1801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GESTÃO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9217152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escritório se enxerga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9125712" y="2578608"/>
            <a:ext cx="2468880" cy="1234440"/>
          </a:xfrm>
          <a:prstGeom prst="rect">
            <a:avLst/>
          </a:prstGeom>
          <a:solidFill>
            <a:srgbClr val="F4F6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125712" y="2578608"/>
            <a:ext cx="73152" cy="1234440"/>
          </a:xfrm>
          <a:prstGeom prst="rect">
            <a:avLst/>
          </a:prstGeom>
          <a:solidFill>
            <a:srgbClr val="1558CC"/>
          </a:solidFill>
          <a:ln w="12700">
            <a:solidFill>
              <a:srgbClr val="1558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281160" y="274320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Minha Equipe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9281160" y="3218688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por equipe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9125712" y="3858768"/>
            <a:ext cx="2468880" cy="1234440"/>
          </a:xfrm>
          <a:prstGeom prst="rect">
            <a:avLst/>
          </a:prstGeom>
          <a:solidFill>
            <a:srgbClr val="F4F6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125712" y="3858768"/>
            <a:ext cx="73152" cy="1234440"/>
          </a:xfrm>
          <a:prstGeom prst="rect">
            <a:avLst/>
          </a:prstGeom>
          <a:solidFill>
            <a:srgbClr val="1558CC"/>
          </a:solidFill>
          <a:ln w="12700">
            <a:solidFill>
              <a:srgbClr val="1558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281160" y="402336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Balanceador de Agenda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9281160" y="4498848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Redistribuição AO VIVO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9125712" y="5138928"/>
            <a:ext cx="2468880" cy="1234440"/>
          </a:xfrm>
          <a:prstGeom prst="rect">
            <a:avLst/>
          </a:prstGeom>
          <a:solidFill>
            <a:srgbClr val="F4F6FB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25712" y="5138928"/>
            <a:ext cx="73152" cy="1234440"/>
          </a:xfrm>
          <a:prstGeom prst="rect">
            <a:avLst/>
          </a:prstGeom>
          <a:solidFill>
            <a:srgbClr val="1558CC"/>
          </a:solidFill>
          <a:ln w="12700">
            <a:solidFill>
              <a:srgbClr val="1558C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281160" y="53035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Administração &amp; Painéis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9281160" y="5779008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Permissões, catálogos, KPIs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DunaFlow · MDR Advocacia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10149840" y="6583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55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 #1 · INTELIGÊNCIA APLICADA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Classificação com IA + loop de feedback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548640" cy="54864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funciona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4.5 lê cada publicação e sugere 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categoria, subcategoria e vínculo de pasta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com justificativa. O advogado confirma ou corrige, e a plataforma aprende para o próximo ciclo.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5760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383280"/>
            <a:ext cx="73152" cy="56692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3832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7A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33832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338328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Publicações entram via DJEN/Legal One.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041648"/>
            <a:ext cx="5760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041648"/>
            <a:ext cx="73152" cy="56692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04164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7A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404164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404164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JSON schema → categoria sugerida.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700016"/>
            <a:ext cx="5760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700016"/>
            <a:ext cx="73152" cy="56692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70001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7A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80160" y="470001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834640" y="470001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Advogado aprova, ajusta ou rejeita.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358384"/>
            <a:ext cx="5760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5358384"/>
            <a:ext cx="73152" cy="56692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35838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7A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280160" y="535838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834640" y="535838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alimenta ajustes no prompt.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0" y="1737360"/>
            <a:ext cx="5029200" cy="4389120"/>
          </a:xfrm>
          <a:prstGeom prst="rect">
            <a:avLst/>
          </a:prstGeom>
          <a:solidFill>
            <a:srgbClr val="0A1940"/>
          </a:solidFill>
          <a:ln w="12700">
            <a:solidFill>
              <a:srgbClr val="0A194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83680" y="1737360"/>
            <a:ext cx="5029200" cy="73152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1920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salto econômico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66560" y="23317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US$ 0,002</a:t>
            </a:r>
            <a:endParaRPr lang="en-US" sz="6400" dirty="0"/>
          </a:p>
        </p:txBody>
      </p:sp>
      <p:sp>
        <p:nvSpPr>
          <p:cNvPr id="31" name="Text 29"/>
          <p:cNvSpPr/>
          <p:nvPr/>
        </p:nvSpPr>
        <p:spPr>
          <a:xfrm>
            <a:off x="6766560" y="34747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E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publicação classificada — graças ao uso da Batch API e do Haiku 4.5.</a:t>
            </a:r>
            <a:endParaRPr lang="en-US" sz="140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4489704"/>
            <a:ext cx="201168" cy="201168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7059168" y="4434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API para lotes assíncronos</a:t>
            </a:r>
            <a:endParaRPr lang="en-US" sz="1200" dirty="0"/>
          </a:p>
        </p:txBody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4873752"/>
            <a:ext cx="201168" cy="20116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7059168" y="48188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valida a saída do modelo</a:t>
            </a:r>
            <a:endParaRPr lang="en-US" sz="1200" dirty="0"/>
          </a:p>
        </p:txBody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5257800"/>
            <a:ext cx="201168" cy="201168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7059168" y="52029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de prompts reduz tokens repetidos</a:t>
            </a:r>
            <a:endParaRPr lang="en-US" sz="1200" dirty="0"/>
          </a:p>
        </p:txBody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5641848"/>
            <a:ext cx="201168" cy="201168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7059168" y="558698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de feedback versionado</a:t>
            </a:r>
            <a:endParaRPr lang="en-US" sz="1200" dirty="0"/>
          </a:p>
        </p:txBody>
      </p:sp>
      <p:sp>
        <p:nvSpPr>
          <p:cNvPr id="40" name="Shape 34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DunaFlow · MDR Advocacia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10149840" y="6583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926080" cy="310896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FEATURE DE DESTAQUE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Ouro em publicações sem pasta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55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Embargos à execução e agravos de instrumento identificados no que antes era ruído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577840" cy="434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057400"/>
            <a:ext cx="73152" cy="4343400"/>
          </a:xfrm>
          <a:prstGeom prst="rect">
            <a:avLst/>
          </a:prstGeom>
          <a:solidFill>
            <a:srgbClr val="D65A4B"/>
          </a:solidFill>
          <a:ln w="12700">
            <a:solidFill>
              <a:srgbClr val="D65A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94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5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costumava acontecer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Legal One recebe centenas de publicações por dia. Quando o número do processo não bate com nenhuma pasta cadastrada, a publicação vira "órfã": sem responsável, sem triagem, e muitas vezes descartada por falta de tempo.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663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5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invisível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50749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dessa pilha havia casos em que o escritório tinha legítimo interesse: embargos à execução e agravos de instrumento vinculados a processos originários já patrocinados, mas cadastrados sob outro número.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2057400"/>
            <a:ext cx="5349240" cy="4343400"/>
          </a:xfrm>
          <a:prstGeom prst="rect">
            <a:avLst/>
          </a:prstGeom>
          <a:solidFill>
            <a:srgbClr val="0A1940"/>
          </a:solidFill>
          <a:ln w="12700">
            <a:solidFill>
              <a:srgbClr val="0A194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2057400"/>
            <a:ext cx="5349240" cy="73152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2331720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040880" y="23317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virada do DunaFlow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492240" y="292608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classificação por IA passa a olhar também para o campo natureza do processo. Quando encontra padrões associados a embargos à execução ou agravos de instrumento em publicações sem pasta, o sistema sugere o vínculo ao processo originário — e devolve essas publicações à operação.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92240" y="5029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492240" y="55595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classes-chave detectadas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492240" y="57790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Embargos à execução · Agravos de instrumento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138160" y="5029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8138160" y="55595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publicações filtradas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138160" y="57790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órfã sai do radar sem revisão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9784080" y="5029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9784080" y="55595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filtros: natureza + polo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9784080" y="57790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reorganizada + link direto ao Legal One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DunaFlow · MDR Advocacia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149840" y="6583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55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 #3 · INTELIGÊNCIA PROCESSUAL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Monitoramento com régua de maturidade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548640" cy="54864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processo monitorado recebe uma etiqueta de maturidade em uma escala de 7 níveis — do "apenas número distribuído" até "inteligência processual completa". O DunaFlow evolui o processo pela régua conforme cruza dados do DataJud (CNJ), DJEN e Legal One — inclusive extraindo CNJ do texto em publicações sem pasta vinculada.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1106424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246120"/>
            <a:ext cx="7903029" cy="10972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7775" y="3127248"/>
            <a:ext cx="402336" cy="402336"/>
          </a:xfrm>
          <a:prstGeom prst="oval">
            <a:avLst/>
          </a:prstGeom>
          <a:solidFill>
            <a:srgbClr val="0B7A79"/>
          </a:solidFill>
          <a:ln w="12700">
            <a:solidFill>
              <a:srgbClr val="0B7A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7775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1703" y="3611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18381" y="3127248"/>
            <a:ext cx="402336" cy="402336"/>
          </a:xfrm>
          <a:prstGeom prst="oval">
            <a:avLst/>
          </a:prstGeom>
          <a:solidFill>
            <a:srgbClr val="0B7A79"/>
          </a:solidFill>
          <a:ln w="12700">
            <a:solidFill>
              <a:srgbClr val="0B7A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8381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42309" y="3611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8986" y="3127248"/>
            <a:ext cx="402336" cy="402336"/>
          </a:xfrm>
          <a:prstGeom prst="oval">
            <a:avLst/>
          </a:prstGeom>
          <a:solidFill>
            <a:srgbClr val="0B7A79"/>
          </a:solidFill>
          <a:ln w="12700">
            <a:solidFill>
              <a:srgbClr val="0B7A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8986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22914" y="3611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79592" y="3127248"/>
            <a:ext cx="402336" cy="402336"/>
          </a:xfrm>
          <a:prstGeom prst="oval">
            <a:avLst/>
          </a:prstGeom>
          <a:solidFill>
            <a:srgbClr val="0B7A79"/>
          </a:solidFill>
          <a:ln w="12700">
            <a:solidFill>
              <a:srgbClr val="0B7A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9592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3520" y="3611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Assuntos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60198" y="3127248"/>
            <a:ext cx="402336" cy="402336"/>
          </a:xfrm>
          <a:prstGeom prst="oval">
            <a:avLst/>
          </a:prstGeom>
          <a:solidFill>
            <a:srgbClr val="0B7A79"/>
          </a:solidFill>
          <a:ln w="12700">
            <a:solidFill>
              <a:srgbClr val="0B7A7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60198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84126" y="3611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40803" y="3127248"/>
            <a:ext cx="402336" cy="402336"/>
          </a:xfrm>
          <a:prstGeom prst="oval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40803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64731" y="3611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621409" y="3127248"/>
            <a:ext cx="402336" cy="402336"/>
          </a:xfrm>
          <a:prstGeom prst="oval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21409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045337" y="3611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297680"/>
            <a:ext cx="53949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4297680"/>
            <a:ext cx="73152" cy="21031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462272"/>
            <a:ext cx="320040" cy="32004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18872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Fontes oficiais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868680" y="48463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DataJud (CNJ)</a:t>
            </a:r>
            <a:endParaRPr lang="en-US" sz="1200" dirty="0"/>
          </a:p>
          <a:p>
            <a:pPr lvl="1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classe, assunto, movimentos e partes oficiais.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DJEN / Comunica (CNJ)</a:t>
            </a:r>
            <a:endParaRPr lang="en-US" sz="1200" dirty="0"/>
          </a:p>
          <a:p>
            <a:pPr lvl="1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publicações e intimações eletrônicas.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One</a:t>
            </a:r>
            <a:endParaRPr lang="en-US" sz="1200" dirty="0"/>
          </a:p>
          <a:p>
            <a:pPr lvl="1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pastas, partes, compromissos e status do escritório.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217920" y="4297680"/>
            <a:ext cx="53949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217920" y="4297680"/>
            <a:ext cx="73152" cy="2103120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462272"/>
            <a:ext cx="320040" cy="32004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685800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o usuário ganha</a:t>
            </a:r>
            <a:endParaRPr lang="en-US" sz="1700" dirty="0"/>
          </a:p>
        </p:txBody>
      </p:sp>
      <p:sp>
        <p:nvSpPr>
          <p:cNvPr id="38" name="Text 34"/>
          <p:cNvSpPr/>
          <p:nvPr/>
        </p:nvSpPr>
        <p:spPr>
          <a:xfrm>
            <a:off x="6537960" y="484632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Visibilidade do nível de conhecimento sobre cada processo.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Priorização objetiva: o que está pronto para atuar e o que precisa de dado.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sólida para alertas de prazo e sugestões automáticas.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consolidado — o processo nunca regride de nível sem razão.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DunaFlow · MDR Advocacia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10149840" y="6583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55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 #4 · EXECUÇÃO AUTÔNOMA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Automações agendadas + RPA no Legal 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548640" cy="54864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5532120" cy="4617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73152" cy="46177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202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8745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 interna (APScheduler)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68680" y="24688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Rotinas recorrentes rodam sozinhas, com histórico e tolerância a falhas: a plataforma acorda, executa, registra e avisa.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8680" y="3429000"/>
            <a:ext cx="5029200" cy="566928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5661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34290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DataJud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926080" y="34290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 classes, assuntos e movimentos.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68680" y="4114800"/>
            <a:ext cx="5029200" cy="566928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2519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41148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Varredura DJEN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2926080" y="41148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diária por publicações vinculadas.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868680" y="4800600"/>
            <a:ext cx="5029200" cy="566928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93776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25880" y="48006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em lote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2926080" y="48006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 publicações não tratadas e envia ao Haiku 4.5.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868680" y="5486400"/>
            <a:ext cx="5029200" cy="566928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62356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25880" y="54864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e saúde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2926080" y="54864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de maintenance: filas, logs, caches.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6217920" y="1737360"/>
            <a:ext cx="5394960" cy="4617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6217920" y="1737360"/>
            <a:ext cx="73152" cy="4617720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1920240"/>
            <a:ext cx="411480" cy="4114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949440" y="18745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RPA sobre Legal One (Playwright)</a:t>
            </a:r>
            <a:endParaRPr lang="en-US" sz="1900" dirty="0"/>
          </a:p>
        </p:txBody>
      </p:sp>
      <p:sp>
        <p:nvSpPr>
          <p:cNvPr id="30" name="Text 22"/>
          <p:cNvSpPr/>
          <p:nvPr/>
        </p:nvSpPr>
        <p:spPr>
          <a:xfrm>
            <a:off x="6537960" y="24688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não há API, o robô faz o trabalho manual: navega o Legal One, cadastra tarefas, anexa publicações e atualiza status — no ritmo que o escritório precisa.</a:t>
            </a:r>
            <a:endParaRPr lang="en-US" sz="12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3703320"/>
            <a:ext cx="256032" cy="25603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858000" y="3611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automático de tarefas</a:t>
            </a:r>
            <a:endParaRPr lang="en-US" sz="13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4270248"/>
            <a:ext cx="256032" cy="25603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858000" y="41788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Vinculação de publicação à pasta</a:t>
            </a:r>
            <a:endParaRPr lang="en-US" sz="130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0" y="4837176"/>
            <a:ext cx="256032" cy="25603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858000" y="474573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de andamentos</a:t>
            </a:r>
            <a:endParaRPr lang="en-US" sz="1300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960" y="5404104"/>
            <a:ext cx="256032" cy="256032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6858000" y="53126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Retomada segura em caso de falha</a:t>
            </a:r>
            <a:endParaRPr lang="en-US" sz="1300" dirty="0"/>
          </a:p>
        </p:txBody>
      </p:sp>
      <p:sp>
        <p:nvSpPr>
          <p:cNvPr id="39" name="Shape 27"/>
          <p:cNvSpPr/>
          <p:nvPr/>
        </p:nvSpPr>
        <p:spPr>
          <a:xfrm>
            <a:off x="6537960" y="5833872"/>
            <a:ext cx="4892040" cy="438912"/>
          </a:xfrm>
          <a:prstGeom prst="rect">
            <a:avLst/>
          </a:prstGeom>
          <a:solidFill>
            <a:srgbClr val="BFD7FF"/>
          </a:solidFill>
          <a:ln w="12700">
            <a:solidFill>
              <a:srgbClr val="BFD7FF"/>
            </a:solidFill>
            <a:prstDash val="solid"/>
          </a:ln>
        </p:spPr>
      </p:sp>
      <p:sp>
        <p:nvSpPr>
          <p:cNvPr id="40" name="Text 28"/>
          <p:cNvSpPr/>
          <p:nvPr/>
        </p:nvSpPr>
        <p:spPr>
          <a:xfrm>
            <a:off x="6537960" y="5833872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A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execução do robô é auditável e rastreável por ID.</a:t>
            </a:r>
            <a:endParaRPr lang="en-US" sz="1100" dirty="0"/>
          </a:p>
        </p:txBody>
      </p:sp>
      <p:sp>
        <p:nvSpPr>
          <p:cNvPr id="41" name="Shape 29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2" name="Text 30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DunaFlow · MDR Advocacia</a:t>
            </a:r>
            <a:endParaRPr lang="en-US" sz="900" dirty="0"/>
          </a:p>
        </p:txBody>
      </p:sp>
      <p:sp>
        <p:nvSpPr>
          <p:cNvPr id="43" name="Text 31"/>
          <p:cNvSpPr/>
          <p:nvPr/>
        </p:nvSpPr>
        <p:spPr>
          <a:xfrm>
            <a:off x="10149840" y="6583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55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JÁ MUDOU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 concretos da plataforma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548640" cy="54864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" y="1783080"/>
            <a:ext cx="269748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93776" y="1783080"/>
            <a:ext cx="2697480" cy="73152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0574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" y="2560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US$ 0,002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68096" y="32004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publicação classificada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28416" y="1783080"/>
            <a:ext cx="269748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28416" y="1783080"/>
            <a:ext cx="2697480" cy="73152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36" y="205740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02736" y="2560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níveis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3602736" y="32004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régua de maturidade processual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63056" y="1783080"/>
            <a:ext cx="269748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63056" y="1783080"/>
            <a:ext cx="2697480" cy="73152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05740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37376" y="2560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24/7</a:t>
            </a:r>
            <a:endParaRPr lang="en-US" sz="2800" dirty="0"/>
          </a:p>
        </p:txBody>
      </p:sp>
      <p:sp>
        <p:nvSpPr>
          <p:cNvPr id="19" name="Text 14"/>
          <p:cNvSpPr/>
          <p:nvPr/>
        </p:nvSpPr>
        <p:spPr>
          <a:xfrm>
            <a:off x="6437376" y="32004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automações sem intervenção humana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997696" y="1783080"/>
            <a:ext cx="269748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997696" y="1783080"/>
            <a:ext cx="2697480" cy="73152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2016" y="205740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2016" y="2560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1.000s</a:t>
            </a:r>
            <a:endParaRPr lang="en-US" sz="2800" dirty="0"/>
          </a:p>
        </p:txBody>
      </p:sp>
      <p:sp>
        <p:nvSpPr>
          <p:cNvPr id="24" name="Text 18"/>
          <p:cNvSpPr/>
          <p:nvPr/>
        </p:nvSpPr>
        <p:spPr>
          <a:xfrm>
            <a:off x="9272016" y="32004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tarefas criadas em lote por execução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48640" y="4069080"/>
            <a:ext cx="11064240" cy="2286000"/>
          </a:xfrm>
          <a:prstGeom prst="rect">
            <a:avLst/>
          </a:prstGeom>
          <a:solidFill>
            <a:srgbClr val="0A1940"/>
          </a:solidFill>
          <a:ln w="12700">
            <a:solidFill>
              <a:srgbClr val="0A194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48640" y="4069080"/>
            <a:ext cx="11064240" cy="73152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os ganhos que não aparecem em tabela</a:t>
            </a:r>
            <a:endParaRPr lang="en-US" sz="20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84632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88720" y="4800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retrabalho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822960" y="52578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Classificação, vínculo e cadastro viram um único fluxo revisado, com retry individual em caso de falha.</a:t>
            </a:r>
            <a:endParaRPr lang="en-US" sz="12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0" y="484632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846320" y="4800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Resgate de processos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4480560" y="52578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Embargos, agravos e CNJs extraídos do texto voltam à operação ativa.</a:t>
            </a:r>
            <a:endParaRPr lang="en-US" sz="120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4846320"/>
            <a:ext cx="274320" cy="27432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503920" y="4800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executivo</a:t>
            </a:r>
            <a:endParaRPr lang="en-US" sz="1400" dirty="0"/>
          </a:p>
        </p:txBody>
      </p:sp>
      <p:sp>
        <p:nvSpPr>
          <p:cNvPr id="36" name="Text 27"/>
          <p:cNvSpPr/>
          <p:nvPr/>
        </p:nvSpPr>
        <p:spPr>
          <a:xfrm>
            <a:off x="8138160" y="52578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funil e velocidade em tempo real — o que foi feito, o que pendurou e onde travou.</a:t>
            </a:r>
            <a:endParaRPr lang="en-US" sz="1200" dirty="0"/>
          </a:p>
        </p:txBody>
      </p:sp>
      <p:sp>
        <p:nvSpPr>
          <p:cNvPr id="37" name="Shape 28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DunaFlow · MDR Advocacia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10149840" y="6583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55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DE PRODUTIVIDADE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pessoas × 1.000 publicações/dia: o que muda com DunaFlow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548640" cy="54864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Cenário-base: uma equipe dedicada de 10 pessoas lê e classifica 1.000 publicações/dia. Com o DunaFlow, o mesmo volume é tratado por uma fração do time — ou o mesmo time passa a dar conta de muito mais.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44068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48840"/>
            <a:ext cx="5440680" cy="502920"/>
          </a:xfrm>
          <a:prstGeom prst="rect">
            <a:avLst/>
          </a:prstGeom>
          <a:solidFill>
            <a:srgbClr val="D65A4B"/>
          </a:solidFill>
          <a:ln w="12700">
            <a:solidFill>
              <a:srgbClr val="D65A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4028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· TRIAGEM MANUAL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dedicada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60520" y="2834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65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pessoas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1821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Publicações por pessoa/dia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60520" y="31821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65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5295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humano por publicação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60520" y="352958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65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~3–5 min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8770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total/dia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60520" y="387705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65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1.000 pub.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72200" y="2148840"/>
            <a:ext cx="544068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2148840"/>
            <a:ext cx="5440680" cy="502920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24028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DUNAFLOW · IA + AUTOMAÇÃO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2834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dedicada (revisão HITL)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784080" y="2834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55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pessoas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31821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Publicações por pessoa/dia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84080" y="31821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55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35295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humano por publicação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784080" y="352958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55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~5–10 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38770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total/dia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784080" y="387705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55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5.000+ pub.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343400"/>
            <a:ext cx="11064240" cy="2103120"/>
          </a:xfrm>
          <a:prstGeom prst="rect">
            <a:avLst/>
          </a:prstGeom>
          <a:solidFill>
            <a:srgbClr val="0A1940"/>
          </a:solidFill>
          <a:ln w="12700">
            <a:solidFill>
              <a:srgbClr val="0A194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4343400"/>
            <a:ext cx="11064240" cy="73152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480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Duas formas de capturar o ganho</a:t>
            </a:r>
            <a:endParaRPr lang="en-US" sz="1800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983480"/>
            <a:ext cx="384048" cy="384048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280160" y="50017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REALOCAÇÃO DE TIME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77240" y="544068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</a:t>
            </a:r>
            <a:pPr indent="0" marL="0">
              <a:buNone/>
            </a:pPr>
            <a:r>
              <a:rPr lang="en-US" sz="14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FTEs liberados</a:t>
            </a:r>
            <a:endParaRPr lang="en-US" sz="4000" dirty="0"/>
          </a:p>
        </p:txBody>
      </p:sp>
      <p:sp>
        <p:nvSpPr>
          <p:cNvPr id="34" name="Text 31"/>
          <p:cNvSpPr/>
          <p:nvPr/>
        </p:nvSpPr>
        <p:spPr>
          <a:xfrm>
            <a:off x="777240" y="603504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volume (1.000 pub./dia) passa a ser processado por uma dupla em revisão HITL. Os 8 advogados liberados voltam ao jurídico de alto valor.</a:t>
            </a:r>
            <a:endParaRPr lang="en-US" sz="1050" dirty="0"/>
          </a:p>
        </p:txBody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4983480"/>
            <a:ext cx="384048" cy="384048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6858000" y="50017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CAPACIDADE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6355080" y="544068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5× </a:t>
            </a:r>
            <a:pPr indent="0" marL="0">
              <a:buNone/>
            </a:pPr>
            <a:r>
              <a:rPr lang="en-US" sz="14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com a mesma equipe</a:t>
            </a:r>
            <a:endParaRPr lang="en-US" sz="4000" dirty="0"/>
          </a:p>
        </p:txBody>
      </p:sp>
      <p:sp>
        <p:nvSpPr>
          <p:cNvPr id="38" name="Text 34"/>
          <p:cNvSpPr/>
          <p:nvPr/>
        </p:nvSpPr>
        <p:spPr>
          <a:xfrm>
            <a:off x="6355080" y="603504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Mantendo os 10, a capacidade sobe de 1.000 para ~5.000 publicações/dia sem contratar — acurácia IA de 85–90% com revisão humana só onde importa.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DunaFlow · MDR Advocacia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10149840" y="6583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55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EM UMA OLHADA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Componentes principais e integrações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548640" cy="54864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11064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128016" cy="11887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9456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01168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Experiência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691640" y="2441448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TypeScript · Vite · shadcn/ui · Tailwind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291840"/>
            <a:ext cx="11064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3291840"/>
            <a:ext cx="128016" cy="1188720"/>
          </a:xfrm>
          <a:prstGeom prst="rect">
            <a:avLst/>
          </a:prstGeom>
          <a:solidFill>
            <a:srgbClr val="0A1940"/>
          </a:solidFill>
          <a:ln w="12700">
            <a:solidFill>
              <a:srgbClr val="0A194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1188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342900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Núcleo operacional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691640" y="3858768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 3.10) · PostgreSQL · SQLAlchemy · Alembic · APScheduler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4709160"/>
            <a:ext cx="11064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8640" y="4709160"/>
            <a:ext cx="128016" cy="1188720"/>
          </a:xfrm>
          <a:prstGeom prst="rect">
            <a:avLst/>
          </a:prstGeom>
          <a:solidFill>
            <a:srgbClr val="1558CC"/>
          </a:solidFill>
          <a:ln w="12700">
            <a:solidFill>
              <a:srgbClr val="1558C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02920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484632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Integrações e IA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691640" y="5276088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One (REST + RPA/Playwright) · Claude Haiku 4.5 (Batch API) · DataJud (CNJ) · DJEN / Comunica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48640" y="6172200"/>
            <a:ext cx="11064240" cy="347472"/>
          </a:xfrm>
          <a:prstGeom prst="rect">
            <a:avLst/>
          </a:prstGeom>
          <a:solidFill>
            <a:srgbClr val="BFD7FF"/>
          </a:solidFill>
          <a:ln w="12700">
            <a:solidFill>
              <a:srgbClr val="BFD7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48640" y="617220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A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em Coolify · Docker Compose · observabilidade estruturada em logs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DunaFlow · MDR Advocacia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0149840" y="6583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55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ONDE ESTAMOS INDO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passos do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548640" cy="54864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11064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822960" cy="749808"/>
          </a:xfrm>
          <a:prstGeom prst="rect">
            <a:avLst/>
          </a:prstGeom>
          <a:solidFill>
            <a:srgbClr val="0A1940"/>
          </a:solidFill>
          <a:ln w="12700">
            <a:solidFill>
              <a:srgbClr val="0A19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8308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554480" y="18562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a régua de maturidade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2167128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movimentos processuais críticos e prazos sugeridos.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670048"/>
            <a:ext cx="11064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670048"/>
            <a:ext cx="822960" cy="749808"/>
          </a:xfrm>
          <a:prstGeom prst="rect">
            <a:avLst/>
          </a:prstGeom>
          <a:solidFill>
            <a:srgbClr val="0A1940"/>
          </a:solidFill>
          <a:ln w="12700">
            <a:solidFill>
              <a:srgbClr val="0A19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70048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554480" y="274320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Expandir as classes detectadas por IA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3054096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dos embargos e agravos, alcançar execuções fiscais, tutelas e recursos especiais.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11064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557016"/>
            <a:ext cx="822960" cy="749808"/>
          </a:xfrm>
          <a:prstGeom prst="rect">
            <a:avLst/>
          </a:prstGeom>
          <a:solidFill>
            <a:srgbClr val="0A1940"/>
          </a:solidFill>
          <a:ln w="12700">
            <a:solidFill>
              <a:srgbClr val="0A19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557016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554480" y="3630168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o painel de riscos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3941064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o dashboard atual (KPIs, funil, velocidade), consolidar publicações órfãs, pastas em regressão e prazos em janela crítica.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443984"/>
            <a:ext cx="11064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443984"/>
            <a:ext cx="822960" cy="749808"/>
          </a:xfrm>
          <a:prstGeom prst="rect">
            <a:avLst/>
          </a:prstGeom>
          <a:solidFill>
            <a:srgbClr val="0A1940"/>
          </a:solidFill>
          <a:ln w="12700">
            <a:solidFill>
              <a:srgbClr val="0A19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443984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554480" y="4517136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Auto-sugestão de responsável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4828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histórico do Legal One para propor o advogado responsável da tarefa.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330952"/>
            <a:ext cx="11064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5330952"/>
            <a:ext cx="822960" cy="749808"/>
          </a:xfrm>
          <a:prstGeom prst="rect">
            <a:avLst/>
          </a:prstGeom>
          <a:solidFill>
            <a:srgbClr val="0A1940"/>
          </a:solidFill>
          <a:ln w="12700">
            <a:solidFill>
              <a:srgbClr val="0A19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330952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554480" y="5404104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públicas internas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54480" y="571500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endpoints seguros para que outras áreas consumam dados consolidados.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DunaFlow · MDR Advocacia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149840" y="6583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55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COMERCIAL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Planos por volume de publicações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548640" cy="54864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SaaS sob medida para escritórios de porte (30+ advogados) — implementação única + mensalidade indexada ao volume efetivo de publicações processadas.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61188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03120"/>
            <a:ext cx="3611880" cy="10972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77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2.000 publicações/mês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7A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R$ 3.500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31520" y="384048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mês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05840" y="4114800"/>
            <a:ext cx="2697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206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R$ 15.000 de implementação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461772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A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de publicações com IA (Claude Haiku 4.5)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A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DJEN + DataJud (CNJ)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A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embargos e agravos em órfãs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A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RPA agendado sobre o Legal One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A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em horário comercial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25112" y="2103120"/>
            <a:ext cx="3611880" cy="4160520"/>
          </a:xfrm>
          <a:prstGeom prst="rect">
            <a:avLst/>
          </a:prstGeom>
          <a:solidFill>
            <a:srgbClr val="0A1940"/>
          </a:solidFill>
          <a:ln w="25400">
            <a:solidFill>
              <a:srgbClr val="1E7B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25112" y="2103120"/>
            <a:ext cx="3611880" cy="109728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79492" y="1901952"/>
            <a:ext cx="2103120" cy="384048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9492" y="19019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A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RECOMENDADO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07992" y="2377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507992" y="28803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8.000 publicações/mês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07992" y="32918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R$ 6.900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507992" y="384048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mês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82312" y="4114800"/>
            <a:ext cx="2697480" cy="0"/>
          </a:xfrm>
          <a:prstGeom prst="line">
            <a:avLst/>
          </a:prstGeom>
          <a:noFill/>
          <a:ln w="9525">
            <a:solidFill>
              <a:srgbClr val="1558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07992" y="4206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R$ 25.000 de implementação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53712" y="461772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do Starter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5 RPAs sob medida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e filtros customizados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de resposta em 8 horas úteis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mensais de volume e economia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01584" y="2103120"/>
            <a:ext cx="361188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01584" y="2103120"/>
            <a:ext cx="3611880" cy="10972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84464" y="2377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8284464" y="28803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ilimitado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84464" y="32004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84464" y="34290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7A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R$ 12.000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8284464" y="393192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mês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558784" y="4114800"/>
            <a:ext cx="2697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84464" y="4206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desde R$ 45.000 de implementação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330184" y="461772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A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do Pro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A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RPAs ilimitados e filas prioritárias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A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de 4 horas úteis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A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 dedicado + treinamentos recorrentes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A1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SSO, integrações custom e ambiente dedicado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62636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mínimo de 12 meses · reajuste anual por IPCA · custo de IA (Claude Haiku 4.5 via Batch API) já incluso · Enterprise com ambiente dedicado opcional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DunaFlow · MDR Advocacia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149840" y="6583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55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SE PAGA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Retorno sobre o investimento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548640" cy="54864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DunaFlow libera horas de advogado, reduz exposição a perdas de prazo e transforma publicações órfãs em operação ativa. A mensalidade se paga em poucas semanas de uso efetivo.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36118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240280"/>
            <a:ext cx="109728" cy="192024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51460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A5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20–40h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77240" y="34290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triagem devolvidas ao time por mês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5112" y="2240280"/>
            <a:ext cx="36118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25112" y="2240280"/>
            <a:ext cx="109728" cy="1920240"/>
          </a:xfrm>
          <a:prstGeom prst="rect">
            <a:avLst/>
          </a:prstGeom>
          <a:solidFill>
            <a:srgbClr val="D65A4B"/>
          </a:solidFill>
          <a:ln w="12700">
            <a:solidFill>
              <a:srgbClr val="D65A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51460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65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R$ 50k+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553712" y="34290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Exposição típica de um único embargo perdido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1584" y="2240280"/>
            <a:ext cx="36118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01584" y="2240280"/>
            <a:ext cx="109728" cy="1920240"/>
          </a:xfrm>
          <a:prstGeom prst="rect">
            <a:avLst/>
          </a:prstGeom>
          <a:solidFill>
            <a:srgbClr val="1558CC"/>
          </a:solidFill>
          <a:ln w="12700">
            <a:solidFill>
              <a:srgbClr val="1558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0184" y="251460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5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1–2 meses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8330184" y="34290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esperado no plano Pro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434840"/>
            <a:ext cx="11064240" cy="1874520"/>
          </a:xfrm>
          <a:prstGeom prst="rect">
            <a:avLst/>
          </a:prstGeom>
          <a:solidFill>
            <a:srgbClr val="0A1940"/>
          </a:solidFill>
          <a:ln w="12700">
            <a:solidFill>
              <a:srgbClr val="0A194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4434840"/>
            <a:ext cx="11064240" cy="73152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663440"/>
            <a:ext cx="365760" cy="3657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80160" y="4617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conta por trás do preço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777240" y="5074920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bloqueada em triagem. </a:t>
            </a:r>
            <a:pPr indent="0" marL="0">
              <a:buNone/>
            </a:pPr>
            <a:r>
              <a:rPr lang="en-US" sz="11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um custo-hora de R$ 200–400 por advogado, 30h/mês representam R$ 6k–12k em capacidade que hoje não gera honorário — valor que supera a mensalidade Pro.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77240" y="5486400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evitado. </a:t>
            </a:r>
            <a:pPr indent="0" marL="0">
              <a:buNone/>
            </a:pPr>
            <a:r>
              <a:rPr lang="en-US" sz="11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embargo à execução ou agravo não identificado pode resultar em penhora indevida ou perda de instância — danos em ordem de grandeza acima do custo anual da plataforma.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77240" y="5897880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Previsibilidade operacional. </a:t>
            </a:r>
            <a:pPr indent="0" marL="0">
              <a:buNone/>
            </a:pPr>
            <a:r>
              <a:rPr lang="en-US" sz="11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tarefa com dono, status e prazo. Dashboards mostram volume processado, acurácia da IA e tempo médio de tratamento — base para decisões de capacity.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DunaFlow · MDR Advocacia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149840" y="6583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9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0" y="3657600"/>
            <a:ext cx="5486400" cy="5486400"/>
          </a:xfrm>
          <a:prstGeom prst="oval">
            <a:avLst/>
          </a:prstGeom>
          <a:solidFill>
            <a:srgbClr val="0A1940">
              <a:alpha val="45000"/>
            </a:srgbClr>
          </a:solidFill>
          <a:ln w="12700">
            <a:solidFill>
              <a:srgbClr val="0A194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-1371600"/>
            <a:ext cx="4114800" cy="4114800"/>
          </a:xfrm>
          <a:prstGeom prst="oval">
            <a:avLst/>
          </a:prstGeom>
          <a:solidFill>
            <a:srgbClr val="0B7A79">
              <a:alpha val="20000"/>
            </a:srgbClr>
          </a:solidFill>
          <a:ln w="12700">
            <a:solidFill>
              <a:srgbClr val="0B7A7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77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1E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PRÓXIMA CONVERSA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10789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DunaFlow não substitui o advogado.</a:t>
            </a:r>
            <a:endParaRPr lang="en-US" sz="3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 garante que </a:t>
            </a:r>
            <a:pPr indent="0" marL="0">
              <a:buNone/>
            </a:pPr>
            <a:r>
              <a:rPr lang="en-US" sz="3600" b="1" i="1" dirty="0">
                <a:solidFill>
                  <a:srgbClr val="1E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tempo do advogado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seja gasto onde só ele consegue estar.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5532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CE6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 ver a plataforma rodando?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de TI  ·  ti@mdradvocacia.com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MDR Advocacia  ·  DunaFlow v1.6 · by DUNATECH  ·  Abril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MDR Advocacia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DunaFlow — Apresentação da Plataforma</dc:title>
  <dc:subject>PptxGenJS Presentation</dc:subject>
  <dc:creator>MDR Advocacia — TI</dc:creator>
  <cp:lastModifiedBy>MDR Advocacia — TI</cp:lastModifiedBy>
  <cp:revision>1</cp:revision>
  <dcterms:created xsi:type="dcterms:W3CDTF">2026-07-07T12:04:29Z</dcterms:created>
  <dcterms:modified xsi:type="dcterms:W3CDTF">2026-07-07T12:04:29Z</dcterms:modified>
</cp:coreProperties>
</file>